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9728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DCU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"/>
              </a:rPr>
              <a:t>Arsitektur Sistem, Keamanan, Risiko &amp; Mitigasi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DECEE"/>
                </a:solidFill>
                <a:latin typeface="Segoe UI"/>
              </a:rPr>
              <a:t>Platform booking fasilitas olahraga &amp; rekreasi DCU (web app / PWA)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Presentasi kepada IT Bank Danamon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669280"/>
            <a:ext cx="4572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Product Owner: Ronny Iswara (DCU)</a:t>
            </a:r>
          </a:p>
          <a:p>
            <a:pPr algn="r"/>
            <a:r>
              <a:rPr sz="1600" b="0">
                <a:solidFill>
                  <a:srgbClr val="FFFFFF"/>
                </a:solidFill>
                <a:latin typeface="Segoe UI"/>
              </a:rPr>
              <a:t>DCU@danamon.co.id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PENGANTAR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Tujuan Sesi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64008" cy="20482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9339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Menjelaskan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Bagaimana DCU Active dibangun, di-hosting, dan diatur aksesnya.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8288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993392"/>
            <a:ext cx="64008" cy="20482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3592" y="201168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199339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Memaparkan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48716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Risiko teknis, keamanan, dan privasi beserta mitigasi yang sudah diterapkan.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288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993392"/>
            <a:ext cx="64008" cy="20482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9944" y="201168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99339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Membuktikan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48716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Hasil pengujian sejauh ini. Staging aktif sejak 14 Oktober 2026.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8288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993392"/>
            <a:ext cx="64008" cy="20482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26296" y="201168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216" y="199339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Meminta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487168"/>
            <a:ext cx="22860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Dukungan dan persetujuan IT Danamon untuk beberapa hal sebelum go-live.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Fokus: memberi IT Danamon gambaran yang cukup untuk menilai risiko dan menyetujui langkah menuju produksi.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RINGKASAN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Apa itu DCU Active?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Web app / PWA untuk </a:t>
            </a:r>
            <a:r>
              <a:rPr sz="1600" b="1">
                <a:solidFill>
                  <a:srgbClr val="1F2937"/>
                </a:solidFill>
                <a:latin typeface="Segoe UI"/>
              </a:rPr>
              <a:t>booking fasilitas DCU</a:t>
            </a:r>
            <a:r>
              <a:rPr sz="1600" b="0">
                <a:solidFill>
                  <a:srgbClr val="1F2937"/>
                </a:solidFill>
                <a:latin typeface="Segoe UI"/>
              </a:rPr>
              <a:t> dari HP atau laptop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Pengguna: karyawan </a:t>
            </a:r>
            <a:r>
              <a:rPr sz="1600" b="1">
                <a:solidFill>
                  <a:srgbClr val="1F2937"/>
                </a:solidFill>
                <a:latin typeface="Segoe UI"/>
              </a:rPr>
              <a:t>Danamon, Adira, Home Credit</a:t>
            </a:r>
            <a:r>
              <a:rPr sz="1600" b="0">
                <a:solidFill>
                  <a:srgbClr val="1F2937"/>
                </a:solidFill>
                <a:latin typeface="Segoe UI"/>
              </a:rPr>
              <a:t> (hanya domain @danamon.co.id, @adira.co.id, @homecredit.co.id)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Booking </a:t>
            </a:r>
            <a:r>
              <a:rPr sz="1600" b="1">
                <a:solidFill>
                  <a:srgbClr val="1F2937"/>
                </a:solidFill>
                <a:latin typeface="Segoe UI"/>
              </a:rPr>
              <a:t>langsung terkonfirmasi</a:t>
            </a:r>
            <a:r>
              <a:rPr sz="1600" b="0">
                <a:solidFill>
                  <a:srgbClr val="1F2937"/>
                </a:solidFill>
                <a:latin typeface="Segoe UI"/>
              </a:rPr>
              <a:t>, tanpa approval manual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Aturan fair-use ditegakkan oleh sistem:</a:t>
            </a:r>
          </a:p>
          <a:p>
            <a:pPr marL="594360" indent="-228600">
              <a:spcAft>
                <a:spcPts val="800"/>
              </a:spcAft>
              <a:buClr>
                <a:srgbClr val="6B7280"/>
              </a:buClr>
              <a:buFont typeface="Arial"/>
              <a:buChar char="–"/>
            </a:pPr>
            <a:r>
              <a:rPr sz="1400" b="0">
                <a:solidFill>
                  <a:srgbClr val="6B7280"/>
                </a:solidFill>
                <a:latin typeface="Segoe UI"/>
              </a:rPr>
              <a:t>Maks. 2 booking aktif; 1 booking per fasilitas per hari</a:t>
            </a:r>
          </a:p>
          <a:p>
            <a:pPr marL="594360" indent="-228600">
              <a:spcAft>
                <a:spcPts val="800"/>
              </a:spcAft>
              <a:buClr>
                <a:srgbClr val="6B7280"/>
              </a:buClr>
              <a:buFont typeface="Arial"/>
              <a:buChar char="–"/>
            </a:pPr>
            <a:r>
              <a:rPr sz="1400" b="0">
                <a:solidFill>
                  <a:srgbClr val="6B7280"/>
                </a:solidFill>
                <a:latin typeface="Segoe UI"/>
              </a:rPr>
              <a:t>Batal paling lambat 30 menit sebelum mulai</a:t>
            </a:r>
          </a:p>
          <a:p>
            <a:pPr marL="594360" indent="-228600">
              <a:spcAft>
                <a:spcPts val="800"/>
              </a:spcAft>
              <a:buClr>
                <a:srgbClr val="6B7280"/>
              </a:buClr>
              <a:buFont typeface="Arial"/>
              <a:buChar char="–"/>
            </a:pPr>
            <a:r>
              <a:rPr sz="1400" b="0">
                <a:solidFill>
                  <a:srgbClr val="6B7280"/>
                </a:solidFill>
                <a:latin typeface="Segoe UI"/>
              </a:rPr>
              <a:t>Wajib check-in; jika tidak, otomatis no-show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Admin: blokir jadwal, kelola user, domain email, dan pengaturan, semuanya tercatat di audit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4592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6 fasilitas · 8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286000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286000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Tennis Court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86000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· 60 · 90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907792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07792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Basketball / Futsal Court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07792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· 60 · 90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529584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9584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Football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529584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· 60 · 90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151376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151376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Table Tennis (2 meja)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151376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4773168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773168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Air Hockey (2 unit)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773168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5394960"/>
            <a:ext cx="36576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5394960"/>
            <a:ext cx="237744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Foosball (2 unit)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394960"/>
            <a:ext cx="128016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Segoe UI"/>
              </a:rPr>
              <a:t>30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GAMBARAN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468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Browser / 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1945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React + TypeScript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Dianggap TIDAK dipercaya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Hanya membawa kunci publik + token login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55448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64592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Cloudflare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57400"/>
            <a:ext cx="2103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Static hosting saja, tanpa kode server; security headers (CSP, HSTS)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3108960" y="2103120"/>
            <a:ext cx="731520" cy="365760"/>
          </a:xfrm>
          <a:prstGeom prst="lef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719072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Segoe UI"/>
              </a:rPr>
              <a:t>file aplikasi (HTTPS)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08960" y="3611880"/>
            <a:ext cx="4023360" cy="36576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227832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Segoe UI"/>
              </a:rPr>
              <a:t>API &amp; Realtime langsung ke Supabase (TLS / WSS)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55448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7F1D1D"/>
                </a:solidFill>
                <a:latin typeface="Segoe UI"/>
              </a:rPr>
              <a:t>Supabase (managed) · region Singapura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17627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542032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Email + password, verifikasi email, hook domain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37192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217627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Data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42032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Hanya fungsi schema "api"; tabel tidak terekspos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639311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3712463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078223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Aturan bisnis, Row Level Security, audit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7192" y="3639311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8632" y="3712463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Realtime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4078223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Sinyal privat "jadwal berubah", tanpa data pribadi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57607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Email: DCU@danamon.co.id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07492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Verifikasi &amp; reset password via SMTP. Metode pengiriman menunggu keputusan IT Danamon (SPF/DKIM/DMARC).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349240"/>
            <a:ext cx="4434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544068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GitHub + CI otomatis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852160"/>
            <a:ext cx="4160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Lint, test, dan secret scan di setiap perubahan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SECURITY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Prinsip Keamanan Desain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Browser tidak dipercaya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Setiap input divalidasi ulang di database seolah datang dari penyerang.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Aturan bisnis di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Tidak bisa dilewati walau API dipanggil langsung tanpa aplikasi.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19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Least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Tabel tidak terekspos; user hanya memanggil fungsi yang diizinkan.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Tidak ada secret di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Hanya publishable key; secret key &amp; password DB tetap di dashboard.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6279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Cek status secara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Nonaktifkan user, ubah role, atau hapus domain berlaku seketika.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19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9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Semua aksi admin tercatat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Alasan wajib dan log yang tidak bisa diubah atau dihapus.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SIAPA BOLEH MASUK, SIAPA BOLEH 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Identitas &amp; Kontrol Akses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Pendaftaran hanya untuk </a:t>
            </a:r>
            <a:r>
              <a:rPr sz="1600" b="1">
                <a:solidFill>
                  <a:srgbClr val="1F2937"/>
                </a:solidFill>
                <a:latin typeface="Segoe UI"/>
              </a:rPr>
              <a:t>domain yang diizinkan</a:t>
            </a:r>
            <a:r>
              <a:rPr sz="1600" b="0">
                <a:solidFill>
                  <a:srgbClr val="1F2937"/>
                </a:solidFill>
                <a:latin typeface="Segoe UI"/>
              </a:rPr>
              <a:t>, dicek di server (Before-User-Created hook); subdomain &amp; domain mirip ditolak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Verifikasi email wajib</a:t>
            </a:r>
            <a:r>
              <a:rPr sz="1600" b="0">
                <a:solidFill>
                  <a:srgbClr val="1F2937"/>
                </a:solidFill>
                <a:latin typeface="Segoe UI"/>
              </a:rPr>
              <a:t> sebelum bisa booking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Password min. 8 karakter: huruf besar, kecil, angka, simbol; </a:t>
            </a:r>
            <a:r>
              <a:rPr sz="1600" b="1">
                <a:solidFill>
                  <a:srgbClr val="1F2937"/>
                </a:solidFill>
                <a:latin typeface="Segoe UI"/>
              </a:rPr>
              <a:t>rate limit</a:t>
            </a:r>
            <a:r>
              <a:rPr sz="1600" b="0">
                <a:solidFill>
                  <a:srgbClr val="1F2937"/>
                </a:solidFill>
                <a:latin typeface="Segoe UI"/>
              </a:rPr>
              <a:t> login &amp; daftar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Admin pertama diangkat lewat skrip terkontrol dan </a:t>
            </a:r>
            <a:r>
              <a:rPr sz="1600" b="1">
                <a:solidFill>
                  <a:srgbClr val="1F2937"/>
                </a:solidFill>
                <a:latin typeface="Segoe UI"/>
              </a:rPr>
              <a:t>tercatat di audit log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Admin tidak bisa menaikkan atau menonaktifkan dirinya sendiri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Selalu ada minimal </a:t>
            </a:r>
            <a:r>
              <a:rPr sz="1600" b="1">
                <a:solidFill>
                  <a:srgbClr val="1F2937"/>
                </a:solidFill>
                <a:latin typeface="Segoe UI"/>
              </a:rPr>
              <a:t>1 admin aktif</a:t>
            </a:r>
            <a:r>
              <a:rPr sz="1600" b="0">
                <a:solidFill>
                  <a:srgbClr val="1F2937"/>
                </a:solidFill>
                <a:latin typeface="Segoe UI"/>
              </a:rPr>
              <a:t> dan </a:t>
            </a:r>
            <a:r>
              <a:rPr sz="1600" b="1">
                <a:solidFill>
                  <a:srgbClr val="1F2937"/>
                </a:solidFill>
                <a:latin typeface="Segoe UI"/>
              </a:rPr>
              <a:t>1 domain aktif</a:t>
            </a:r>
          </a:p>
          <a:p>
            <a:pPr marL="274320" indent="-256032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Otorisasi tidak bergantung pada klaim token; selalu dicek ke data terkini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45920"/>
            <a:ext cx="3931920" cy="4480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Dua peran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2860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3957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788920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Booking, batal, check-in, lihat booking sendiri, profil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1148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2245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617720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Semua fungsi user + blokir jadwal, kelola user, domain, pengaturan,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UU PDP NO. 27 TAHUN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Perlindungan Data &amp; Privasi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74320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Data minimal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45920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Nama, email kantor, booking, notifikasi. Tidak ada nomor HP, foto, lokasi, atau device fingerprint.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95728"/>
            <a:ext cx="2743200" cy="65836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95728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Tujuan terbatas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395728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95728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Hanya untuk booking fasilitas dan administrasi fair-use.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45536"/>
            <a:ext cx="274320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45536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Kerahasiaan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145536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145536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User hanya melihat datanya sendiri; jadwal tidak menampilkan siapa yang booking.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2743200" cy="65836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95344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Lokasi &amp; enkripsi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895344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895344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Supabase region Singapura (disetujui PO). Enkripsi in-transit (TLS/HSTS) dan at-rest oleh provider.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45152"/>
            <a:ext cx="274320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45152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Retensi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645152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645152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Booking &amp; audit ≥ 2 tahun (menunggu konfirmasi Legal). Notifikasi dihapus otomatis setelah 90 hari.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59"/>
            <a:ext cx="2743200" cy="65836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94959"/>
            <a:ext cx="25603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Transparansi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5394959"/>
            <a:ext cx="832104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394959"/>
            <a:ext cx="804672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Segoe UI"/>
              </a:rPr>
              <a:t>Privacy notice di halaman daftar &amp; profil; teks menunggu persetujuan Legal.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ATURAN BISNIS YANG TIDAK BISA DILEWATI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Integritas Booking: Anti Double-Booking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8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Lapis 1: penguncian baris</a:t>
            </a:r>
            <a:r>
              <a:rPr sz="1600" b="0">
                <a:solidFill>
                  <a:srgbClr val="1F2937"/>
                </a:solidFill>
                <a:latin typeface="Segoe UI"/>
              </a:rPr>
              <a:t> saat booking (profil → fasilitas → booking)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Lapis 2: constraint database.</a:t>
            </a:r>
            <a:r>
              <a:rPr sz="1600" b="0">
                <a:solidFill>
                  <a:srgbClr val="1F2937"/>
                </a:solidFill>
                <a:latin typeface="Segoe UI"/>
              </a:rPr>
              <a:t> Booking yang tumpang tindih mustahil tersimpan, bahkan lewat insert langsung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Idempotency key:</a:t>
            </a:r>
            <a:r>
              <a:rPr sz="1600" b="0">
                <a:solidFill>
                  <a:srgbClr val="1F2937"/>
                </a:solidFill>
                <a:latin typeface="Segoe UI"/>
              </a:rPr>
              <a:t> klik ganda atau jaringan putus tidak membuat booking ganda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Semua waktu dihitung di server dalam </a:t>
            </a:r>
            <a:r>
              <a:rPr sz="1600" b="1">
                <a:solidFill>
                  <a:srgbClr val="1F2937"/>
                </a:solidFill>
                <a:latin typeface="Segoe UI"/>
              </a:rPr>
              <a:t>WIB</a:t>
            </a:r>
            <a:r>
              <a:rPr sz="1600" b="0">
                <a:solidFill>
                  <a:srgbClr val="1F2937"/>
                </a:solidFill>
                <a:latin typeface="Segoe UI"/>
              </a:rPr>
              <a:t>, tidak tergantung jam atau zona waktu HP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Job status tiap menit (no-show, selesai) + </a:t>
            </a:r>
            <a:r>
              <a:rPr sz="1600" b="1">
                <a:solidFill>
                  <a:srgbClr val="1F2937"/>
                </a:solidFill>
                <a:latin typeface="Segoe UI"/>
              </a:rPr>
              <a:t>integrity check harian</a:t>
            </a:r>
            <a:r>
              <a:rPr sz="1600" b="0">
                <a:solidFill>
                  <a:srgbClr val="1F2937"/>
                </a:solidFill>
                <a:latin typeface="Segoe UI"/>
              </a:rPr>
              <a:t> otomatis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FDECEE"/>
                </a:solidFill>
                <a:latin typeface="Segoe UI"/>
              </a:rPr>
              <a:t>Uji beban bersamaan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3832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booking tumpang tindih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480560"/>
            <a:ext cx="33832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FDECEE"/>
                </a:solidFill>
                <a:latin typeface="Segoe UI"/>
              </a:rPr>
              <a:t>30 user × 10 ronde</a:t>
            </a:r>
          </a:p>
          <a:p>
            <a:pPr algn="ctr"/>
            <a:r>
              <a:rPr sz="1300" b="0">
                <a:solidFill>
                  <a:srgbClr val="FDECEE"/>
                </a:solidFill>
                <a:latin typeface="Segoe UI"/>
              </a:rPr>
              <a:t>20 request paralel × 50 iterasi</a:t>
            </a:r>
          </a:p>
          <a:p>
            <a:pPr algn="ctr"/>
            <a:r>
              <a:rPr sz="1300" b="0">
                <a:solidFill>
                  <a:srgbClr val="FDECEE"/>
                </a:solidFill>
                <a:latin typeface="Segoe UI"/>
              </a:rPr>
              <a:t>8 / 8 skenario lulus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LAPISAN BROWSER &amp;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Keamanan Aplikasi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9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Content Security Policy ketat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Tidak ada script inline atau script pihak ketiga.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1051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Security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HSTS, X-Frame-Options DENY, nosniff, Referrer-Policy, Permissions-Policy (kamera, mikrofon, lokasi mati).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7355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Anti open redirect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6732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Tujuan setelah login / reset password dibatasi ke halaman internal.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7355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Link email aman dari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6732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Harus klik konfirmasi; tersedia alternatif kode 6 digit.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3659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091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Cache 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Service worker hanya menyimpan file statis; data API &amp; login tidak pernah di-cache.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57200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736592"/>
            <a:ext cx="64008" cy="9966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0916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Secret scan otomatis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30368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Setiap build dicek: tidak boleh ada secret / service key di bundle.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JEJAK DAN KESIAPAN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Audit, Monitoring &amp; Respons Insiden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10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Audit log append-only:</a:t>
            </a:r>
            <a:r>
              <a:rPr sz="1600" b="0">
                <a:solidFill>
                  <a:srgbClr val="1F2937"/>
                </a:solidFill>
                <a:latin typeface="Segoe UI"/>
              </a:rPr>
              <a:t> siapa, kapan, apa, sebelum/sesudah, alasan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Tidak bisa diubah atau dihapus, </a:t>
            </a:r>
            <a:r>
              <a:rPr sz="1600" b="1">
                <a:solidFill>
                  <a:srgbClr val="1F2937"/>
                </a:solidFill>
                <a:latin typeface="Segoe UI"/>
              </a:rPr>
              <a:t>bahkan oleh admin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  <a:latin typeface="Segoe UI"/>
              </a:rPr>
              <a:t>Mencakup semua tindakan admin dan siklus booking user</a:t>
            </a:r>
          </a:p>
          <a:p>
            <a:pPr marL="274320" indent="-256032">
              <a:spcAft>
                <a:spcPts val="1200"/>
              </a:spcAft>
              <a:buClr>
                <a:srgbClr val="C8102E"/>
              </a:buClr>
              <a:buFont typeface="Arial"/>
              <a:buChar char="•"/>
            </a:pPr>
            <a:r>
              <a:rPr sz="1600" b="1">
                <a:solidFill>
                  <a:srgbClr val="1F2937"/>
                </a:solidFill>
                <a:latin typeface="Segoe UI"/>
              </a:rPr>
              <a:t>Monitoring:</a:t>
            </a:r>
            <a:r>
              <a:rPr sz="1600" b="0">
                <a:solidFill>
                  <a:srgbClr val="1F2937"/>
                </a:solidFill>
                <a:latin typeface="Segoe UI"/>
              </a:rPr>
              <a:t> health check job, integrity check harian, Supabase Security &amp; Performance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Prosedur respons insiden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0574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391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Deteksi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391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Alert, integrity check, laporan user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27432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249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Kontain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Nonaktifkan akun, hapus domain, rotasi kunci, blokir fasilitas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34290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107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Investigasi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07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Audit log dan log Supabase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41148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965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Pulihkan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965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Restore dari backup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48006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7823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Notifikasi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823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Sesuai UU PDP melalui DPO / Legal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54864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68112"/>
            <a:ext cx="15544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68112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Evaluasi pasca-insiden dan tindak lanjut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BUKTI, BUKAN KLAIM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Hasil Pengujian (per 14 Oktober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Lulus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Database (pgTAP)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Privilege per peran, RLS, aturan bisnis,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4592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7830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8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5146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Uji konkurensi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8036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0 double-booking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4592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41 / 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5146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88036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Android Chrome, iPhone Safari, desktop + aksesibilitas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64592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17830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0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5146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OWASP ZAP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88036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62 PASS · 5 peringatan rendah / info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npm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Kerentanan dependency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388620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40233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0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47548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Supabase 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512064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Project staging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88620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40233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Segoe UI"/>
              </a:rPr>
              <a:t>91 / 100 / 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7548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Lighthouse 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512064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Performance / Accessibility / Best practices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6" y="3886200"/>
            <a:ext cx="26517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40233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Segoe UI"/>
              </a:rPr>
              <a:t>2 →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47548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Temuan UAT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5120640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Temuan tampilan dari uji HP PO, diperbaiki di hari yang sama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KEMUNGKINAN / DAMPAK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Matriks Risiko &amp; Mitigasi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12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25880"/>
                <a:gridCol w="1097280"/>
                <a:gridCol w="53492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Risiko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Kemungkinan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Dampak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Mitigasi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Double booking akibat bug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803D"/>
                          </a:solidFill>
                          <a:latin typeface="Segoe UI"/>
                        </a:rPr>
                        <a:t>Rendah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2 lapis pengaman di database, uji konkurensi, integrity check harian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Email verifikasi diblokir filter email perusahaan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SMTP resmi DCU@danamon.co.id + SPF/DKIM/DMARC, allow-list di 3 perusahaan, kode 6 digit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Pendaftaran oleh non-karyawan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803D"/>
                          </a:solidFill>
                          <a:latin typeface="Segoe UI"/>
                        </a:rPr>
                        <a:t>Rendah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Pembatasan domain di server + verifikasi email; admin bisa nonaktifkan seketika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Akses data user lain lewat API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803D"/>
                          </a:solidFill>
                          <a:latin typeface="Segoe UI"/>
                        </a:rPr>
                        <a:t>Rendah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Tabel tidak terekspos, RLS, fungsi terkontrol; diuji per peran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Penyalahgunaan hak admin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803D"/>
                          </a:solidFill>
                          <a:latin typeface="Segoe UI"/>
                        </a:rPr>
                        <a:t>Rendah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Alasan wajib, audit log permanen, rentang pengaturan dibatasi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Kebocoran secret key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803D"/>
                          </a:solidFill>
                          <a:latin typeface="Segoe UI"/>
                        </a:rPr>
                        <a:t>Rendah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Secret hanya di dashboard; scan bundle &amp; repo otomatis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Layanan berhenti / data hilang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102E"/>
                          </a:solidFill>
                          <a:latin typeface="Segoe UI"/>
                        </a:rPr>
                        <a:t>Tinggi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Paket berbayar + backup untuk produksi; status job dimonitor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Data pribadi karyawan (UU PDP)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Data minimal, retensi, privacy notice, review Legal</a:t>
                      </a:r>
                    </a:p>
                  </a:txBody>
                  <a:tcPr marT="36576" marB="36576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Segoe UI"/>
                        </a:rPr>
                        <a:t>Kesalahan zona waktu di HP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Sedang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Semua perhitungan WIB di server; diuji otomatis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TRANSPARANSI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Risiko Residual &amp; Keterbatasan yang Diakui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Ketergantungan vendor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Supabase &amp; Cloudflare perlu dinilai oleh IT &amp; Risk Danamon sesuai kebijakan bank.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828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Staging memakai paket 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Produksi wajib paket berbayar dengan backup terjadwal.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Email belum produksi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SMTP menunggu keputusan IT Danamon; saat ini akun uji dibuat manual oleh admin.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Style inline di CSP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Dibutuhkan komponen UI; script tetap ketat. Risiko rendah.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4069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Data di Singapura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Disetujui PO; dokumentasi transfer lintas negara oleh Legal.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4069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Gate go-live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Hanya jika tidak ada temuan Critical / High yang terbuka.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PERMINTAAN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Dukungan yang Dibutuhkan dari IT Danamon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SMTP / relay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Pengirim DCU@danamon.co.id dengan SPF, DKIM, dan DMARC yang selaras.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Allow-list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Di filter email Danamon, Adira, dan Home Credit.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9164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85623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19" y="187452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185623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Penilaian vendor &amp;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5000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Supabase dan Cloudflare sesuai kebijakan bank.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Domain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Mis. subdomain DCU, beserta pengaturan DNS.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6279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Review keamanan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Penetration test independen sebelum go-live.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931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4096512"/>
            <a:ext cx="64008" cy="17282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19" y="41148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9" y="40965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Segoe UI"/>
              </a:rPr>
              <a:t>Go-live &amp; eskalasi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590288"/>
            <a:ext cx="32004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Kesepakatan kriteria go-live dan kontak eskalasi insiden.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"/>
              </a:rPr>
              <a:t>Langkah Selanjutnya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DCU Active  ·  Arsitektur, Keamanan &amp; Risiko  · 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95728"/>
            <a:ext cx="10515600" cy="7315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Segoe UI"/>
              </a:rPr>
              <a:t>SEKARANG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Segoe UI"/>
              </a:rPr>
              <a:t>Fase 4: UAT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UAT di staging oleh pengguna &amp; admin; uji di perangkat nyata.</a:t>
            </a:r>
          </a:p>
        </p:txBody>
      </p:sp>
      <p:sp>
        <p:nvSpPr>
          <p:cNvPr id="15" name="Oval 14"/>
          <p:cNvSpPr/>
          <p:nvPr/>
        </p:nvSpPr>
        <p:spPr>
          <a:xfrm>
            <a:off x="4480559" y="2194560"/>
            <a:ext cx="457200" cy="4572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6459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Segoe UI"/>
              </a:rPr>
              <a:t>BERIKUTNYA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880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0175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Segoe UI"/>
              </a:rPr>
              <a:t>Fase 5: Produksi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520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Paket berbayar, backup, domain resmi, SMTP.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9" y="2194560"/>
            <a:ext cx="457200" cy="4572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6459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Segoe UI"/>
              </a:rPr>
              <a:t>PENUTUP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8803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30175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Segoe UI"/>
              </a:rPr>
              <a:t>Fase 6: Serah terima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520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Panduan operasional, admin, dan prosedur insiden.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Gate go-live:</a:t>
            </a:r>
            <a:r>
              <a:rPr sz="1600" b="0">
                <a:solidFill>
                  <a:srgbClr val="FFFFFF"/>
                </a:solidFill>
                <a:latin typeface="Segoe UI"/>
              </a:rPr>
              <a:t> hasil uji lengkap · tidak ada temuan Critical/High · persetujuan IT Danamon &amp; Product Owner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D1D5DB"/>
                </a:solidFill>
                <a:latin typeface="Segoe UI"/>
              </a:rPr>
              <a:t>Diskusi &amp;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  <a:latin typeface="Segoe UI"/>
              </a:rPr>
              <a:t>Kontak: DCU@danamon.co.id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